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2E6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</c:v>
                  </c:pt>
                  <c:pt idx="1">
                    <c:v>floor</c:v>
                  </c:pt>
                  <c:pt idx="2">
                    <c:v>chair</c:v>
                  </c:pt>
                  <c:pt idx="3">
                    <c:v>roof</c:v>
                  </c:pt>
                  <c:pt idx="4">
                    <c:v>other words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18</c:v>
                </c:pt>
                <c:pt idx="2">
                  <c:v>12</c:v>
                </c:pt>
                <c:pt idx="3">
                  <c:v>5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1C9A7A"/>
            </a:solidFill>
            <a:ln w="28575" cap="flat">
              <a:solidFill>
                <a:srgbClr val="1C9A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9A7A"/>
              </a:solidFill>
              <a:ln w="9525" cap="flat">
                <a:solidFill>
                  <a:srgbClr val="1C9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90</c:v>
                </c:pt>
                <c:pt idx="1">
                  <c:v>60</c:v>
                </c:pt>
                <c:pt idx="2">
                  <c:v>38</c:v>
                </c:pt>
                <c:pt idx="3">
                  <c:v>24</c:v>
                </c:pt>
                <c:pt idx="4">
                  <c:v>15</c:v>
                </c:pt>
                <c:pt idx="5">
                  <c:v>9</c:v>
                </c:pt>
                <c:pt idx="6">
                  <c:v>5.5</c:v>
                </c:pt>
                <c:pt idx="7">
                  <c:v>3.3</c:v>
                </c:pt>
                <c:pt idx="8">
                  <c:v>2</c:v>
                </c:pt>
                <c:pt idx="9">
                  <c:v>1.2</c:v>
                </c:pt>
                <c:pt idx="10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D9564B"/>
            </a:solidFill>
            <a:ln w="28575" cap="flat">
              <a:solidFill>
                <a:srgbClr val="D9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64B"/>
              </a:solidFill>
              <a:ln w="9525" cap="flat">
                <a:solidFill>
                  <a:srgbClr val="D9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90</c:v>
                </c:pt>
                <c:pt idx="1">
                  <c:v>15</c:v>
                </c:pt>
                <c:pt idx="2">
                  <c:v>75</c:v>
                </c:pt>
                <c:pt idx="3">
                  <c:v>20</c:v>
                </c:pt>
                <c:pt idx="4">
                  <c:v>65</c:v>
                </c:pt>
                <c:pt idx="5">
                  <c:v>25</c:v>
                </c:pt>
                <c:pt idx="6">
                  <c:v>60</c:v>
                </c:pt>
                <c:pt idx="7">
                  <c:v>30</c:v>
                </c:pt>
                <c:pt idx="8">
                  <c:v>55</c:v>
                </c:pt>
                <c:pt idx="9">
                  <c:v>35</c:v>
                </c:pt>
                <c:pt idx="10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data</c:v>
                </c:pt>
              </c:strCache>
            </c:strRef>
          </c:tx>
          <c:spPr>
            <a:solidFill>
              <a:srgbClr val="8A8A86"/>
            </a:solidFill>
            <a:ln w="28575" cap="flat">
              <a:solidFill>
                <a:srgbClr val="8A8A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8A86"/>
              </a:solidFill>
              <a:ln w="9525" cap="flat">
                <a:solidFill>
                  <a:srgbClr val="8A8A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2.8</c:v>
                </c:pt>
                <c:pt idx="1">
                  <c:v>4.8</c:v>
                </c:pt>
                <c:pt idx="2">
                  <c:v>7.9</c:v>
                </c:pt>
                <c:pt idx="3">
                  <c:v>7.1</c:v>
                </c:pt>
                <c:pt idx="4">
                  <c:v>4.3</c:v>
                </c:pt>
                <c:pt idx="5">
                  <c:v>3.1</c:v>
                </c:pt>
                <c:pt idx="6">
                  <c:v>5.2</c:v>
                </c:pt>
                <c:pt idx="7">
                  <c:v>7.8</c:v>
                </c:pt>
                <c:pt idx="8">
                  <c:v>7.2</c:v>
                </c:pt>
                <c:pt idx="9">
                  <c:v>4.2</c:v>
                </c:pt>
                <c:pt idx="10">
                  <c:v>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D9564B"/>
            </a:solidFill>
            <a:ln w="28575" cap="flat">
              <a:solidFill>
                <a:srgbClr val="D9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64B"/>
              </a:solidFill>
              <a:ln w="9525" cap="flat">
                <a:solidFill>
                  <a:srgbClr val="D9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5.5</c:v>
                </c:pt>
                <c:pt idx="1">
                  <c:v>5.46</c:v>
                </c:pt>
                <c:pt idx="2">
                  <c:v>5.42</c:v>
                </c:pt>
                <c:pt idx="3">
                  <c:v>5.38</c:v>
                </c:pt>
                <c:pt idx="4">
                  <c:v>5.34</c:v>
                </c:pt>
                <c:pt idx="5">
                  <c:v>5.3</c:v>
                </c:pt>
                <c:pt idx="6">
                  <c:v>5.26</c:v>
                </c:pt>
                <c:pt idx="7">
                  <c:v>5.22</c:v>
                </c:pt>
                <c:pt idx="8">
                  <c:v>5.18</c:v>
                </c:pt>
                <c:pt idx="9">
                  <c:v>5.14</c:v>
                </c:pt>
                <c:pt idx="10">
                  <c:v>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1C9A7A"/>
            </a:solidFill>
            <a:ln w="28575" cap="flat">
              <a:solidFill>
                <a:srgbClr val="1C9A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9A7A"/>
              </a:solidFill>
              <a:ln w="9525" cap="flat">
                <a:solidFill>
                  <a:srgbClr val="1C9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3.2</c:v>
                </c:pt>
                <c:pt idx="1">
                  <c:v>3.2</c:v>
                </c:pt>
                <c:pt idx="2">
                  <c:v>6</c:v>
                </c:pt>
                <c:pt idx="3">
                  <c:v>7.7</c:v>
                </c:pt>
                <c:pt idx="4">
                  <c:v>6</c:v>
                </c:pt>
                <c:pt idx="5">
                  <c:v>3.5</c:v>
                </c:pt>
                <c:pt idx="6">
                  <c:v>3.5</c:v>
                </c:pt>
                <c:pt idx="7">
                  <c:v>6</c:v>
                </c:pt>
                <c:pt idx="8">
                  <c:v>7.7</c:v>
                </c:pt>
                <c:pt idx="9">
                  <c:v>6</c:v>
                </c:pt>
                <c:pt idx="10">
                  <c:v>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670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Prediction error</c:v>
                </c:pt>
              </c:strCache>
            </c:strRef>
          </c:tx>
          <c:spPr>
            <a:solidFill>
              <a:srgbClr val="1C9A7A"/>
            </a:solidFill>
            <a:ln w="28575" cap="flat">
              <a:solidFill>
                <a:srgbClr val="1C9A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9A7A"/>
              </a:solidFill>
              <a:ln w="9525" cap="flat">
                <a:solidFill>
                  <a:srgbClr val="1C9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</c:v>
                </c:pt>
                <c:pt idx="1">
                  <c:v>17</c:v>
                </c:pt>
                <c:pt idx="2">
                  <c:v>14.5</c:v>
                </c:pt>
                <c:pt idx="3">
                  <c:v>12.3</c:v>
                </c:pt>
                <c:pt idx="4">
                  <c:v>10.5</c:v>
                </c:pt>
                <c:pt idx="5">
                  <c:v>9</c:v>
                </c:pt>
                <c:pt idx="6">
                  <c:v>7.7</c:v>
                </c:pt>
                <c:pt idx="7">
                  <c:v>6.5</c:v>
                </c:pt>
                <c:pt idx="8">
                  <c:v>5.6</c:v>
                </c:pt>
                <c:pt idx="9">
                  <c:v>4.8</c:v>
                </c:pt>
                <c:pt idx="10">
                  <c:v>4.1</c:v>
                </c:pt>
                <c:pt idx="11">
                  <c:v>3.5</c:v>
                </c:pt>
                <c:pt idx="12">
                  <c:v>3</c:v>
                </c:pt>
                <c:pt idx="13">
                  <c:v>2.6</c:v>
                </c:pt>
                <c:pt idx="14">
                  <c:v>2.2</c:v>
                </c:pt>
                <c:pt idx="15">
                  <c:v>1.9</c:v>
                </c:pt>
                <c:pt idx="16">
                  <c:v>1.6</c:v>
                </c:pt>
                <c:pt idx="17">
                  <c:v>1.4</c:v>
                </c:pt>
                <c:pt idx="18">
                  <c:v>1.2</c:v>
                </c:pt>
                <c:pt idx="1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trees added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error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</c:v>
                </c:pt>
              </c:strCache>
            </c:strRef>
          </c:tx>
          <c:spPr>
            <a:solidFill>
              <a:srgbClr val="2E6F9E"/>
            </a:solidFill>
            <a:ln w="28575" cap="flat">
              <a:solidFill>
                <a:srgbClr val="2E6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6F9E"/>
              </a:solidFill>
              <a:ln w="9525" cap="flat">
                <a:solidFill>
                  <a:srgbClr val="2E6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10</c:v>
                </c:pt>
                <c:pt idx="1">
                  <c:v>8.5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  <c:pt idx="5">
                  <c:v>4.2</c:v>
                </c:pt>
                <c:pt idx="6">
                  <c:v>3.6</c:v>
                </c:pt>
                <c:pt idx="7">
                  <c:v>3.1</c:v>
                </c:pt>
                <c:pt idx="8">
                  <c:v>2.7</c:v>
                </c:pt>
                <c:pt idx="9">
                  <c:v>2.3</c:v>
                </c:pt>
                <c:pt idx="10">
                  <c:v>2</c:v>
                </c:pt>
                <c:pt idx="11">
                  <c:v>1.7</c:v>
                </c:pt>
                <c:pt idx="12">
                  <c:v>1.4</c:v>
                </c:pt>
                <c:pt idx="13">
                  <c:v>1.2</c:v>
                </c:pt>
                <c:pt idx="14">
                  <c:v>1</c:v>
                </c:pt>
                <c:pt idx="15">
                  <c:v>0.85</c:v>
                </c:pt>
                <c:pt idx="16">
                  <c:v>0.7</c:v>
                </c:pt>
                <c:pt idx="17">
                  <c:v>0.6</c:v>
                </c:pt>
                <c:pt idx="18">
                  <c:v>0.5</c:v>
                </c:pt>
                <c:pt idx="19">
                  <c:v>0.42</c:v>
                </c:pt>
                <c:pt idx="20">
                  <c:v>0.35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error</c:v>
                </c:pt>
              </c:strCache>
            </c:strRef>
          </c:tx>
          <c:spPr>
            <a:solidFill>
              <a:srgbClr val="D9564B"/>
            </a:solidFill>
            <a:ln w="28575" cap="flat">
              <a:solidFill>
                <a:srgbClr val="D9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64B"/>
              </a:solidFill>
              <a:ln w="9525" cap="flat">
                <a:solidFill>
                  <a:srgbClr val="D9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10</c:v>
                </c:pt>
                <c:pt idx="1">
                  <c:v>8</c:v>
                </c:pt>
                <c:pt idx="2">
                  <c:v>6.8</c:v>
                </c:pt>
                <c:pt idx="3">
                  <c:v>6</c:v>
                </c:pt>
                <c:pt idx="4">
                  <c:v>5.5</c:v>
                </c:pt>
                <c:pt idx="5">
                  <c:v>5.2</c:v>
                </c:pt>
                <c:pt idx="6">
                  <c:v>5</c:v>
                </c:pt>
                <c:pt idx="7">
                  <c:v>4.9</c:v>
                </c:pt>
                <c:pt idx="8">
                  <c:v>4.85</c:v>
                </c:pt>
                <c:pt idx="9">
                  <c:v>4.9</c:v>
                </c:pt>
                <c:pt idx="10">
                  <c:v>5</c:v>
                </c:pt>
                <c:pt idx="11">
                  <c:v>5.2</c:v>
                </c:pt>
                <c:pt idx="12">
                  <c:v>5.5</c:v>
                </c:pt>
                <c:pt idx="13">
                  <c:v>5.9</c:v>
                </c:pt>
                <c:pt idx="14">
                  <c:v>6.4</c:v>
                </c:pt>
                <c:pt idx="15">
                  <c:v>7</c:v>
                </c:pt>
                <c:pt idx="16">
                  <c:v>7.7</c:v>
                </c:pt>
                <c:pt idx="17">
                  <c:v>8.5</c:v>
                </c:pt>
                <c:pt idx="18">
                  <c:v>9.3</c:v>
                </c:pt>
                <c:pt idx="19">
                  <c:v>10.2</c:v>
                </c:pt>
                <c:pt idx="20">
                  <c:v>11.2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training 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error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670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LayerNorm</c:v>
                </c:pt>
              </c:strCache>
            </c:strRef>
          </c:tx>
          <c:spPr>
            <a:solidFill>
              <a:srgbClr val="D9564B"/>
            </a:solidFill>
            <a:ln w="28575" cap="flat">
              <a:solidFill>
                <a:srgbClr val="D956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64B"/>
              </a:solidFill>
              <a:ln w="9525" cap="flat">
                <a:solidFill>
                  <a:srgbClr val="D956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9</c:v>
                </c:pt>
                <c:pt idx="4">
                  <c:v>20</c:v>
                </c:pt>
                <c:pt idx="5">
                  <c:v>45</c:v>
                </c:pt>
                <c:pt idx="6">
                  <c:v>100</c:v>
                </c:pt>
                <c:pt idx="7">
                  <c:v>220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LayerNorm</c:v>
                </c:pt>
              </c:strCache>
            </c:strRef>
          </c:tx>
          <c:spPr>
            <a:solidFill>
              <a:srgbClr val="1C9A7A"/>
            </a:solidFill>
            <a:ln w="28575" cap="flat">
              <a:solidFill>
                <a:srgbClr val="1C9A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9A7A"/>
              </a:solidFill>
              <a:ln w="9525" cap="flat">
                <a:solidFill>
                  <a:srgbClr val="1C9A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1.1</c:v>
                </c:pt>
                <c:pt idx="2">
                  <c:v>0.9</c:v>
                </c:pt>
                <c:pt idx="3">
                  <c:v>1.05</c:v>
                </c:pt>
                <c:pt idx="4">
                  <c:v>0.95</c:v>
                </c:pt>
                <c:pt idx="5">
                  <c:v>1</c:v>
                </c:pt>
                <c:pt idx="6">
                  <c:v>1.02</c:v>
                </c:pt>
                <c:pt idx="7">
                  <c:v>0.98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layer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7085"/>
                    </a:solidFill>
                    <a:latin typeface="Arial"/>
                  </a:rPr>
                  <a:t>value magnitude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670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52760" y="320040"/>
            <a:ext cx="1005840" cy="1005840"/>
          </a:xfrm>
          <a:prstGeom prst="ellipse">
            <a:avLst/>
          </a:prstGeom>
          <a:solidFill>
            <a:srgbClr val="1C9A7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5394960"/>
            <a:ext cx="1463040" cy="1463040"/>
          </a:xfrm>
          <a:prstGeom prst="ellipse">
            <a:avLst/>
          </a:prstGeom>
          <a:solidFill>
            <a:srgbClr val="2E6F9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5943600"/>
            <a:ext cx="731520" cy="731520"/>
          </a:xfrm>
          <a:prstGeom prst="ellipse">
            <a:avLst/>
          </a:prstGeom>
          <a:solidFill>
            <a:srgbClr val="D9564B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TO DEEP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Actually Works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real intuition — from vectors to transformers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beginner-to-advanced walkthrough  •  AI-Native Engineering series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ideas, building on each other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4114800"/>
          </a:xfrm>
          <a:prstGeom prst="roundRect">
            <a:avLst>
              <a:gd name="adj" fmla="val 2082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075688"/>
            <a:ext cx="512064" cy="512064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965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intuition: vectors &amp; embeddings, probability, and gradient descent — the ideas underneath everything else.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7304" y="1920240"/>
            <a:ext cx="3514344" cy="4114800"/>
          </a:xfrm>
          <a:prstGeom prst="roundRect">
            <a:avLst>
              <a:gd name="adj" fmla="val 2082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2752" y="2075688"/>
            <a:ext cx="512064" cy="512064"/>
          </a:xfrm>
          <a:prstGeom prst="ellipse">
            <a:avLst/>
          </a:prstGeom>
          <a:solidFill>
            <a:srgbClr val="1C9A7A"/>
          </a:solidFill>
          <a:ln/>
        </p:spPr>
      </p:sp>
      <p:sp>
        <p:nvSpPr>
          <p:cNvPr id="12" name="Text 10"/>
          <p:cNvSpPr/>
          <p:nvPr/>
        </p:nvSpPr>
        <p:spPr>
          <a:xfrm>
            <a:off x="4492752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1624" y="278892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1624" y="3291840"/>
            <a:ext cx="2965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actually work: XGBoost vs. linear regression, overfitting, bias vs. variance, and honest evaluation.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5968" y="1920240"/>
            <a:ext cx="3514344" cy="4114800"/>
          </a:xfrm>
          <a:prstGeom prst="roundRect">
            <a:avLst>
              <a:gd name="adj" fmla="val 2082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1416" y="2075688"/>
            <a:ext cx="512064" cy="512064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81416" y="20756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00288" y="278892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00288" y="3291840"/>
            <a:ext cx="29657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behind PyTorch code: CNNs, residual connections, LayerNorm, and why transformers took over.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end: you'll know why these ideas work, not just how to call them in code.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&amp; embeddings: similar meaning = closer together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meaning into numbers — place things in space so distance shows how similar they 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931920" cy="2834640"/>
          </a:xfrm>
          <a:prstGeom prst="ellipse">
            <a:avLst/>
          </a:prstGeom>
          <a:solidFill>
            <a:srgbClr val="2E6F9E">
              <a:alpha val="12000"/>
            </a:srgbClr>
          </a:solidFill>
          <a:ln w="15875">
            <a:solidFill>
              <a:srgbClr val="2E6F9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309360" y="2377440"/>
            <a:ext cx="4297680" cy="3200400"/>
          </a:xfrm>
          <a:prstGeom prst="ellipse">
            <a:avLst/>
          </a:prstGeom>
          <a:solidFill>
            <a:srgbClr val="D9564B">
              <a:alpha val="12000"/>
            </a:srgbClr>
          </a:solidFill>
          <a:ln w="15875">
            <a:solidFill>
              <a:srgbClr val="D9564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472184" y="2295144"/>
            <a:ext cx="164592" cy="164592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87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40864" y="2523744"/>
            <a:ext cx="164592" cy="164592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27157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46504" y="3483864"/>
            <a:ext cx="164592" cy="164592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675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90104" y="3118104"/>
            <a:ext cx="164592" cy="164592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3310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61704" y="3483864"/>
            <a:ext cx="164592" cy="164592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3675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55864" y="4764024"/>
            <a:ext cx="164592" cy="164592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956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554480" y="2377440"/>
            <a:ext cx="868680" cy="22860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554480" y="2377440"/>
            <a:ext cx="6217920" cy="822960"/>
          </a:xfrm>
          <a:prstGeom prst="line">
            <a:avLst/>
          </a:prstGeom>
          <a:noFill/>
          <a:ln w="12700">
            <a:solidFill>
              <a:srgbClr val="667085"/>
            </a:solidFill>
            <a:prstDash val="sysDash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188720" y="1600200"/>
            <a:ext cx="237744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distance = similar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2880360"/>
            <a:ext cx="2743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distance = different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words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5257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words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carries meaning too: king − man + woman ≈ queen — same trick, different axis.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gives odds, not one fixed answer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“The cat sat on the ___”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" y="1792224"/>
            <a:ext cx="109728" cy="10972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list, not one answer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00728" y="1792224"/>
            <a:ext cx="109728" cy="109728"/>
          </a:xfrm>
          <a:prstGeom prst="ellipse">
            <a:avLst/>
          </a:prstGeom>
          <a:solidFill>
            <a:srgbClr val="1C9A7A"/>
          </a:solidFill>
          <a:ln/>
        </p:spPr>
      </p:sp>
      <p:sp>
        <p:nvSpPr>
          <p:cNvPr id="8" name="Text 6"/>
          <p:cNvSpPr/>
          <p:nvPr/>
        </p:nvSpPr>
        <p:spPr>
          <a:xfrm>
            <a:off x="4520184" y="164592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adds to 100%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97952" y="1792224"/>
            <a:ext cx="109728" cy="109728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0" name="Text 8"/>
          <p:cNvSpPr/>
          <p:nvPr/>
        </p:nvSpPr>
        <p:spPr>
          <a:xfrm>
            <a:off x="8217408" y="164592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= a weighted die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097280" y="2240280"/>
          <a:ext cx="9966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Spread-out numbers = the model is unsure. One number near 100% = the model is confident.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descent: which way is downhill, and how steep?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472184"/>
            <a:ext cx="109728" cy="10972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how wrong the model 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00728" y="1472184"/>
            <a:ext cx="109728" cy="109728"/>
          </a:xfrm>
          <a:prstGeom prst="ellipse">
            <a:avLst/>
          </a:prstGeom>
          <a:solidFill>
            <a:srgbClr val="1C9A7A"/>
          </a:solidFill>
          <a:ln/>
        </p:spPr>
      </p:sp>
      <p:sp>
        <p:nvSpPr>
          <p:cNvPr id="7" name="Text 5"/>
          <p:cNvSpPr/>
          <p:nvPr/>
        </p:nvSpPr>
        <p:spPr>
          <a:xfrm>
            <a:off x="4520184" y="132588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the slope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97952" y="1472184"/>
            <a:ext cx="109728" cy="109728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9" name="Text 7"/>
          <p:cNvSpPr/>
          <p:nvPr/>
        </p:nvSpPr>
        <p:spPr>
          <a:xfrm>
            <a:off x="8217408" y="132588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downhill, repeat millions of times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learning rate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233172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217920" y="1965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 too large</a:t>
            </a:r>
            <a:endParaRPr lang="en-US" sz="15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217920" y="233172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 shrink automatically near the minimum and settle. Steps that are too big overshoot and bounce, never settling.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regression: one fixed rule — and why it breaks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600200"/>
            <a:ext cx="96012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E6F9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base price + $20,000 × bedrooms + $50 × sqft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30352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2794" tIns="2794" rIns="2794" bIns="279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bedroom is worth a lot here. The formula still just adds $20,000.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underpriced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278892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2794" tIns="2794" rIns="2794" bIns="279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Rundown area</a:t>
            </a:r>
            <a:endParaRPr lang="en-US" sz="13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bedroom is worth much less here. The formula still adds $20,000.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overpriced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(bedrooms, location) change price together — one straight line can't bend to catch that.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plays 20 questions instead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Downtown?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23360" y="2537460"/>
            <a:ext cx="1097280" cy="18288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120640" y="1920240"/>
            <a:ext cx="3566160" cy="1234440"/>
          </a:xfrm>
          <a:prstGeom prst="roundRect">
            <a:avLst>
              <a:gd name="adj" fmla="val 5185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&gt; 3?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0" y="2537460"/>
            <a:ext cx="914400" cy="18288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601200" y="192024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small yes/no questions, stacked together — letting downtown houses and suburb houses get treated completely differently.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fancier math — just the freedom to split the data up and treat groups differently.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two very different fits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83080"/>
          <a:ext cx="10515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tradeoff: flexibility vs. a clean explanation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30352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3175" tIns="3175" rIns="3175" bIns="3175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“Each bedroom adds $20,000” — one clean sentence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Can't catch interactions between 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2011680"/>
            <a:ext cx="54864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3175" tIns="3175" rIns="3175" bIns="3175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Catches interactions and non-linear patterns</a:t>
            </a:r>
            <a:endParaRPr lang="en-US" sz="13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one-line explanation — hundreds of rules glued together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 memorize noise on small or messy data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decision tree: one shot, one answer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251960" y="1691640"/>
            <a:ext cx="365760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5875">
            <a:solidFill>
              <a:srgbClr val="2E6F9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downtown?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691640" y="288036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5875">
            <a:solidFill>
              <a:srgbClr val="2E6F9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&gt; 3?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269480" y="288036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5875">
            <a:solidFill>
              <a:srgbClr val="2E6F9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 &gt; 2000?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2286000" cy="594360"/>
          </a:xfrm>
          <a:prstGeom prst="roundRect">
            <a:avLst>
              <a:gd name="adj" fmla="val 10769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≈ $450K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4160520"/>
            <a:ext cx="2286000" cy="594360"/>
          </a:xfrm>
          <a:prstGeom prst="roundRect">
            <a:avLst>
              <a:gd name="adj" fmla="val 10769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≈ $300K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20840" y="4160520"/>
            <a:ext cx="2286000" cy="594360"/>
          </a:xfrm>
          <a:prstGeom prst="roundRect">
            <a:avLst>
              <a:gd name="adj" fmla="val 10769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≈ $600K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89720" y="4160520"/>
            <a:ext cx="2286000" cy="594360"/>
          </a:xfrm>
          <a:prstGeom prst="roundRect">
            <a:avLst>
              <a:gd name="adj" fmla="val 10769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≈ $380K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flipH="1">
            <a:off x="3291840" y="2286000"/>
            <a:ext cx="2103120" cy="5943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2286000"/>
            <a:ext cx="2103120" cy="5943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1783080" y="3474720"/>
            <a:ext cx="1508760" cy="68580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91840" y="3474720"/>
            <a:ext cx="914400" cy="68580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7863840" y="3474720"/>
            <a:ext cx="1005840" cy="68580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69680" y="3474720"/>
            <a:ext cx="1463040" cy="68580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02336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tree, one shot — too shallow and it misses patterns; too deep and it memorizes noise.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XGBoost: a chain of small trees, each fixing the last one's mistakes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first guess — has some error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2350008"/>
            <a:ext cx="18288" cy="256032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predict Tree 1's error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3264408"/>
            <a:ext cx="18288" cy="256032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what Tree 1 and Tree 2 still got wrong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4178808"/>
            <a:ext cx="18288" cy="256032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" y="443484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Tree 1 + Tree 2 + Tree 3, added together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shrinks as trees are added</a:t>
            </a:r>
            <a:endParaRPr lang="en-US" sz="13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0" y="205740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XGBoost chains hundreds of these small trees, not just three.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Overfitting: the exam analogy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3504" y="1472184"/>
            <a:ext cx="109728" cy="109728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the reasoning helps on the real exam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00728" y="1472184"/>
            <a:ext cx="109728" cy="109728"/>
          </a:xfrm>
          <a:prstGeom prst="ellipse">
            <a:avLst/>
          </a:prstGeom>
          <a:solidFill>
            <a:srgbClr val="D99B2B"/>
          </a:solidFill>
          <a:ln/>
        </p:spPr>
      </p:sp>
      <p:sp>
        <p:nvSpPr>
          <p:cNvPr id="7" name="Text 5"/>
          <p:cNvSpPr/>
          <p:nvPr/>
        </p:nvSpPr>
        <p:spPr>
          <a:xfrm>
            <a:off x="4520184" y="132588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Over-studying = memorizing the practice sheet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97952" y="1472184"/>
            <a:ext cx="109728" cy="109728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9" name="Text 7"/>
          <p:cNvSpPr/>
          <p:nvPr/>
        </p:nvSpPr>
        <p:spPr>
          <a:xfrm>
            <a:off x="8217408" y="1325880"/>
            <a:ext cx="3285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score keeps rising, mock score falls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22960" y="1965960"/>
          <a:ext cx="10515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widening gap after the validation line turns is overfitting, happening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vs. variance: two ways a scale can be wrong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30352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3175" tIns="3175" rIns="3175" bIns="3175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Miscalibrated scale = bias</a:t>
            </a:r>
            <a:endParaRPr lang="en-US" sz="13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reads 200g too heavy. Same mistake every time — too simple to ever get it right.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2011680"/>
            <a:ext cx="54864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3175" tIns="3175" rIns="3175" bIns="3175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D99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scale = variance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apple, three tries: 150g, 210g, 90g. Not wrong one way — just unreliable.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scale gives the same, correct number every time — that's the target next.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miss the target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74520" y="169164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30552" y="1947672"/>
            <a:ext cx="1042416" cy="10424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22128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19756" y="2436876"/>
            <a:ext cx="64008" cy="640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2615184" y="2368296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9" name="Shape 7"/>
          <p:cNvSpPr/>
          <p:nvPr/>
        </p:nvSpPr>
        <p:spPr>
          <a:xfrm>
            <a:off x="2551176" y="2432304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245059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2386584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4328" y="2423160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bias, low variance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(ideal)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169164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4152" y="1947672"/>
            <a:ext cx="1042416" cy="10424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21284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3356" y="2436876"/>
            <a:ext cx="64008" cy="640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8432" y="263347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9" name="Shape 17"/>
          <p:cNvSpPr/>
          <p:nvPr/>
        </p:nvSpPr>
        <p:spPr>
          <a:xfrm>
            <a:off x="8942832" y="203911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20" name="Shape 18"/>
          <p:cNvSpPr/>
          <p:nvPr/>
        </p:nvSpPr>
        <p:spPr>
          <a:xfrm>
            <a:off x="8714232" y="290779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65592" y="213055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22" name="Shape 20"/>
          <p:cNvSpPr/>
          <p:nvPr/>
        </p:nvSpPr>
        <p:spPr>
          <a:xfrm>
            <a:off x="8988552" y="254203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23" name="Shape 21"/>
          <p:cNvSpPr/>
          <p:nvPr/>
        </p:nvSpPr>
        <p:spPr>
          <a:xfrm>
            <a:off x="8394192" y="194767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3383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bias, high variance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874520" y="393192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0552" y="4187952"/>
            <a:ext cx="1042416" cy="10424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4531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19756" y="4677156"/>
            <a:ext cx="64008" cy="640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5224" y="5029200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30" name="Shape 28"/>
          <p:cNvSpPr/>
          <p:nvPr/>
        </p:nvSpPr>
        <p:spPr>
          <a:xfrm>
            <a:off x="2971800" y="4992624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31" name="Shape 29"/>
          <p:cNvSpPr/>
          <p:nvPr/>
        </p:nvSpPr>
        <p:spPr>
          <a:xfrm>
            <a:off x="2953512" y="505663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32" name="Shape 30"/>
          <p:cNvSpPr/>
          <p:nvPr/>
        </p:nvSpPr>
        <p:spPr>
          <a:xfrm>
            <a:off x="2926080" y="501091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33" name="Shape 31"/>
          <p:cNvSpPr/>
          <p:nvPr/>
        </p:nvSpPr>
        <p:spPr>
          <a:xfrm>
            <a:off x="2980944" y="4974336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5623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bias, low variance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818120" y="393192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74152" y="4187952"/>
            <a:ext cx="1042416" cy="10424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9328" y="445312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63356" y="4677156"/>
            <a:ext cx="64008" cy="640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9" name="Shape 37"/>
          <p:cNvSpPr/>
          <p:nvPr/>
        </p:nvSpPr>
        <p:spPr>
          <a:xfrm>
            <a:off x="9125712" y="505663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40" name="Shape 38"/>
          <p:cNvSpPr/>
          <p:nvPr/>
        </p:nvSpPr>
        <p:spPr>
          <a:xfrm>
            <a:off x="8851392" y="533095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41" name="Shape 39"/>
          <p:cNvSpPr/>
          <p:nvPr/>
        </p:nvSpPr>
        <p:spPr>
          <a:xfrm>
            <a:off x="9034272" y="450799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42" name="Shape 40"/>
          <p:cNvSpPr/>
          <p:nvPr/>
        </p:nvSpPr>
        <p:spPr>
          <a:xfrm>
            <a:off x="9217152" y="514807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43" name="Shape 41"/>
          <p:cNvSpPr/>
          <p:nvPr/>
        </p:nvSpPr>
        <p:spPr>
          <a:xfrm>
            <a:off x="8805672" y="496519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44" name="Shape 42"/>
          <p:cNvSpPr/>
          <p:nvPr/>
        </p:nvSpPr>
        <p:spPr>
          <a:xfrm>
            <a:off x="9079992" y="473659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5623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bias, high variance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(worst case)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only knows what you feed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2286000"/>
            <a:ext cx="96012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4445" tIns="4445" rIns="4445" bIns="4445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3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great chef can't cook a good meal from bad ingredients. If you never tell the model where a house is, it can never learn that location matters.</a:t>
            </a:r>
            <a:endParaRPr lang="en-US" sz="130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“Feature engineering” means giving it better ingredients — like computing “price per sqft in this area” yourself, instead of hoping the model finds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ever as good as the data — and the ingredients — you give it.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your data before you trust a number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040880" cy="1188720"/>
          </a:xfrm>
          <a:prstGeom prst="roundRect">
            <a:avLst>
              <a:gd name="adj" fmla="val 5385"/>
            </a:avLst>
          </a:prstGeom>
          <a:solidFill>
            <a:srgbClr val="2E6F9E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70%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01000" y="192024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D99B2B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46920" y="1920240"/>
            <a:ext cx="1508760" cy="1188720"/>
          </a:xfrm>
          <a:prstGeom prst="roundRect">
            <a:avLst>
              <a:gd name="adj" fmla="val 5385"/>
            </a:avLst>
          </a:prstGeom>
          <a:solidFill>
            <a:srgbClr val="D9564B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41832" y="3593592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474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(70%) — the model learns patterns from this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41832" y="4096512"/>
            <a:ext cx="128016" cy="128016"/>
          </a:xfrm>
          <a:prstGeom prst="ellipse">
            <a:avLst/>
          </a:prstGeom>
          <a:solidFill>
            <a:srgbClr val="D99B2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9776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(15%) — tune settings, compare models, pick the best one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1832" y="4599432"/>
            <a:ext cx="128016" cy="128016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 — touched once, at the very end, for an honest final score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at the test set early, adjust based on it, and the final score stops meaning anything.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metric that matches 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49377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“Accuracy” of a lazy spam filter that flags nothing as spam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2103120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spam it catches — accuracy alone hid a useless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→ RMSE / MAE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accuracy or F1 (balanced classes)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classes (fraud, spam) → precision &amp; recall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only means something once you know it was measured the right way.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Convolution: one small filter, reused everywhere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5661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783080"/>
            <a:ext cx="18288" cy="356616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356616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920240" y="1783080"/>
            <a:ext cx="18288" cy="356616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31520" y="2971800"/>
            <a:ext cx="356616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514600" y="1783080"/>
            <a:ext cx="18288" cy="356616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31520" y="3566160"/>
            <a:ext cx="356616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108960" y="1783080"/>
            <a:ext cx="18288" cy="356616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31520" y="4160520"/>
            <a:ext cx="356616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703320" y="1783080"/>
            <a:ext cx="18288" cy="356616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31520" y="4754880"/>
            <a:ext cx="356616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31520" y="1783080"/>
            <a:ext cx="1783080" cy="1783080"/>
          </a:xfrm>
          <a:prstGeom prst="rect">
            <a:avLst/>
          </a:prstGeom>
          <a:solidFill>
            <a:srgbClr val="2E6F9E">
              <a:alpha val="25000"/>
            </a:srgbClr>
          </a:solidFill>
          <a:ln w="25400">
            <a:solidFill>
              <a:srgbClr val="2E6F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566160"/>
            <a:ext cx="1783080" cy="1783080"/>
          </a:xfrm>
          <a:prstGeom prst="rect">
            <a:avLst/>
          </a:prstGeom>
          <a:solidFill>
            <a:srgbClr val="2E6F9E">
              <a:alpha val="25000"/>
            </a:srgbClr>
          </a:solidFill>
          <a:ln w="25400">
            <a:solidFill>
              <a:srgbClr val="2E6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463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53949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filter — only 9 numbers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219456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2194560"/>
            <a:ext cx="18288" cy="246888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658368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6640" y="2194560"/>
            <a:ext cx="18288" cy="246888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40664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60720" y="3017520"/>
            <a:ext cx="246888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7607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60720" y="3017520"/>
            <a:ext cx="246888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583680" y="2194560"/>
            <a:ext cx="18288" cy="246888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658368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60720" y="3017520"/>
            <a:ext cx="246888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7406640" y="2194560"/>
            <a:ext cx="18288" cy="246888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740664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60720" y="3840480"/>
            <a:ext cx="246888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576072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760720" y="3840480"/>
            <a:ext cx="246888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583680" y="2194560"/>
            <a:ext cx="18288" cy="246888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658368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60720" y="3840480"/>
            <a:ext cx="2468880" cy="18288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7406640" y="2194560"/>
            <a:ext cx="18288" cy="2468880"/>
          </a:xfrm>
          <a:prstGeom prst="line">
            <a:avLst/>
          </a:prstGeom>
          <a:noFill/>
          <a:ln w="9525">
            <a:solidFill>
              <a:srgbClr val="D9E0EA"/>
            </a:solidFill>
            <a:prstDash val="solid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7406640" y="3840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86800" y="4480560"/>
            <a:ext cx="29260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needed without sharing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60720" y="4480560"/>
            <a:ext cx="27432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reused everywhere with convolution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9 numbers slide across the whole image — one edge/texture detector, not one per pixel.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connections: a shortcut through the network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566160" y="169164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0" y="2286000"/>
            <a:ext cx="18288" cy="3657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566160" y="265176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(weights)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3246120"/>
            <a:ext cx="18288" cy="3657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66160" y="361188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(weights)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4206240"/>
            <a:ext cx="18288" cy="36576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66160" y="457200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1C9A7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F(x) + 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1984248"/>
            <a:ext cx="914400" cy="18288"/>
          </a:xfrm>
          <a:prstGeom prst="line">
            <a:avLst/>
          </a:prstGeom>
          <a:noFill/>
          <a:ln w="31750">
            <a:solidFill>
              <a:srgbClr val="1C9A7A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418320" y="1984248"/>
            <a:ext cx="18288" cy="2880360"/>
          </a:xfrm>
          <a:prstGeom prst="line">
            <a:avLst/>
          </a:prstGeom>
          <a:noFill/>
          <a:ln w="31750">
            <a:solidFill>
              <a:srgbClr val="1C9A7A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 flipH="1">
            <a:off x="8503920" y="4864608"/>
            <a:ext cx="914400" cy="18288"/>
          </a:xfrm>
          <a:prstGeom prst="line">
            <a:avLst/>
          </a:prstGeom>
          <a:noFill/>
          <a:ln w="31750">
            <a:solidFill>
              <a:srgbClr val="1C9A7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646920" y="28803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(identity): x flows straight through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only has to learn what to ADD (F(x)) — the original input always survives via the shortcut.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training, gradient flows the other 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566160" y="169164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265176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(weights)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361188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(weights)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4572000"/>
            <a:ext cx="4937760" cy="594360"/>
          </a:xfrm>
          <a:prstGeom prst="roundRect">
            <a:avLst>
              <a:gd name="adj" fmla="val 10769"/>
            </a:avLst>
          </a:prstGeom>
          <a:solidFill>
            <a:srgbClr val="D9564B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(feedback starts here)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6035040" y="4224528"/>
            <a:ext cx="18288" cy="347472"/>
          </a:xfrm>
          <a:prstGeom prst="line">
            <a:avLst/>
          </a:prstGeom>
          <a:noFill/>
          <a:ln w="38100">
            <a:solidFill>
              <a:srgbClr val="D956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6035040" y="3264408"/>
            <a:ext cx="18288" cy="347472"/>
          </a:xfrm>
          <a:prstGeom prst="line">
            <a:avLst/>
          </a:prstGeom>
          <a:noFill/>
          <a:ln w="25400">
            <a:solidFill>
              <a:srgbClr val="D9564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6035040" y="2304288"/>
            <a:ext cx="18288" cy="347472"/>
          </a:xfrm>
          <a:prstGeom prst="line">
            <a:avLst/>
          </a:prstGeom>
          <a:noFill/>
          <a:ln w="12700">
            <a:solidFill>
              <a:srgbClr val="D9564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7220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4864608"/>
            <a:ext cx="914400" cy="18288"/>
          </a:xfrm>
          <a:prstGeom prst="line">
            <a:avLst/>
          </a:prstGeom>
          <a:noFill/>
          <a:ln w="31750">
            <a:solidFill>
              <a:srgbClr val="1C9A7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9418320" y="1984248"/>
            <a:ext cx="18288" cy="2880360"/>
          </a:xfrm>
          <a:prstGeom prst="line">
            <a:avLst/>
          </a:prstGeom>
          <a:noFill/>
          <a:ln w="31750">
            <a:solidFill>
              <a:srgbClr val="1C9A7A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 flipH="1">
            <a:off x="8503920" y="1984248"/>
            <a:ext cx="914400" cy="18288"/>
          </a:xfrm>
          <a:prstGeom prst="line">
            <a:avLst/>
          </a:prstGeom>
          <a:noFill/>
          <a:ln w="31750">
            <a:solidFill>
              <a:srgbClr val="1C9A7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46920" y="28803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shortcut: 100% in, 100% out — unchanged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path: 100% → 60% → 30% (fades). Shortcut: 100% → 100% (survives) — why 100+ layer networks can train at all.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LayerNorm keeps the scale steady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83080"/>
          <a:ext cx="10515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normalization, values compound layer after layer and explode. LayerNorm rescales back to a steady range every layer.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transformers replaced RNNs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— sequential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94960" y="1600200"/>
            <a:ext cx="18288" cy="443484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80160" y="22860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2788920"/>
            <a:ext cx="18288" cy="41148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280160" y="32004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3703320"/>
            <a:ext cx="18288" cy="41148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280160" y="41148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617720"/>
            <a:ext cx="18288" cy="41148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280160" y="502920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finish word 1 before word 2 can start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9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— parallel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69680" y="2651760"/>
            <a:ext cx="1554480" cy="1371600"/>
          </a:xfrm>
          <a:prstGeom prst="line">
            <a:avLst/>
          </a:prstGeom>
          <a:noFill/>
          <a:ln w="9525">
            <a:solidFill>
              <a:srgbClr val="D9564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69680" y="2651760"/>
            <a:ext cx="18288" cy="2743200"/>
          </a:xfrm>
          <a:prstGeom prst="line">
            <a:avLst/>
          </a:prstGeom>
          <a:noFill/>
          <a:ln w="9525">
            <a:solidFill>
              <a:srgbClr val="D9564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7315200" y="2651760"/>
            <a:ext cx="1554480" cy="1371600"/>
          </a:xfrm>
          <a:prstGeom prst="line">
            <a:avLst/>
          </a:prstGeom>
          <a:noFill/>
          <a:ln w="9525">
            <a:solidFill>
              <a:srgbClr val="D9564B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 flipH="1">
            <a:off x="8869680" y="4023360"/>
            <a:ext cx="1554480" cy="1371600"/>
          </a:xfrm>
          <a:prstGeom prst="line">
            <a:avLst/>
          </a:prstGeom>
          <a:noFill/>
          <a:ln w="9525">
            <a:solidFill>
              <a:srgbClr val="D9564B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7315200" y="4023360"/>
            <a:ext cx="3108960" cy="18288"/>
          </a:xfrm>
          <a:prstGeom prst="line">
            <a:avLst/>
          </a:prstGeom>
          <a:noFill/>
          <a:ln w="9525">
            <a:solidFill>
              <a:srgbClr val="D9564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7315200" y="4023360"/>
            <a:ext cx="1554480" cy="1371600"/>
          </a:xfrm>
          <a:prstGeom prst="line">
            <a:avLst/>
          </a:prstGeom>
          <a:noFill/>
          <a:ln w="9525">
            <a:solidFill>
              <a:srgbClr val="D9564B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183880" y="242316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38360" y="379476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83880" y="516636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79476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6035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words processed in one pass — no waiting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covered, in one place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4344" cy="4206240"/>
          </a:xfrm>
          <a:prstGeom prst="roundRect">
            <a:avLst>
              <a:gd name="adj" fmla="val 2082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984248"/>
            <a:ext cx="512064" cy="512064"/>
          </a:xfrm>
          <a:prstGeom prst="ellipse">
            <a:avLst/>
          </a:prstGeom>
          <a:solidFill>
            <a:srgbClr val="2E6F9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6570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Vectors: meaning as geometry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Probability: odds, not answers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rolling downhill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7304" y="1828800"/>
            <a:ext cx="3514344" cy="4206240"/>
          </a:xfrm>
          <a:prstGeom prst="roundRect">
            <a:avLst>
              <a:gd name="adj" fmla="val 2082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2752" y="1984248"/>
            <a:ext cx="512064" cy="512064"/>
          </a:xfrm>
          <a:prstGeom prst="ellipse">
            <a:avLst/>
          </a:prstGeom>
          <a:solidFill>
            <a:srgbClr val="1C9A7A"/>
          </a:solidFill>
          <a:ln/>
        </p:spPr>
      </p:sp>
      <p:sp>
        <p:nvSpPr>
          <p:cNvPr id="11" name="Text 9"/>
          <p:cNvSpPr/>
          <p:nvPr/>
        </p:nvSpPr>
        <p:spPr>
          <a:xfrm>
            <a:off x="4492752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1624" y="269748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1624" y="3154680"/>
            <a:ext cx="296570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catch what lines can't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train/val gap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data, pick the right metric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5968" y="1828800"/>
            <a:ext cx="3514344" cy="4206240"/>
          </a:xfrm>
          <a:prstGeom prst="roundRect">
            <a:avLst>
              <a:gd name="adj" fmla="val 2082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1416" y="1984248"/>
            <a:ext cx="512064" cy="512064"/>
          </a:xfrm>
          <a:prstGeom prst="ellipse">
            <a:avLst/>
          </a:prstGeom>
          <a:solidFill>
            <a:srgbClr val="D956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1416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0288" y="2697480"/>
            <a:ext cx="2965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00288" y="3154680"/>
            <a:ext cx="296570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reuses weights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save deep gradients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replaced sequential RNNs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actually make this stick: the Learning Loop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9659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it in your head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9659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in your own words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52560" y="196596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AI-generated code (don't write it first)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39319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purpose, then fix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39319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small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39319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</p:spPr>
        <p:txBody>
          <a:bodyPr wrap="square" lIns="2286" tIns="2286" rIns="2286" bIns="2286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someone else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AI-Native Engineering roadmap — apply this loop to every topic in this video.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Actually Works</dc:title>
  <dc:subject>PptxGenJS Presentation</dc:subject>
  <dc:creator>AI Foundations</dc:creator>
  <cp:lastModifiedBy>AI Foundations</cp:lastModifiedBy>
  <cp:revision>1</cp:revision>
  <dcterms:created xsi:type="dcterms:W3CDTF">2026-07-26T06:17:01Z</dcterms:created>
  <dcterms:modified xsi:type="dcterms:W3CDTF">2026-07-26T06:17:01Z</dcterms:modified>
</cp:coreProperties>
</file>